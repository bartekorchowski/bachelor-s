
<file path=[Content_Types].xml><?xml version="1.0" encoding="utf-8"?>
<Types xmlns="http://schemas.openxmlformats.org/package/2006/content-types">
  <Default Extension="emf" ContentType="image/x-emf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17"/>
  </p:notesMasterIdLst>
  <p:sldIdLst>
    <p:sldId id="256" r:id="rId2"/>
    <p:sldId id="257" r:id="rId3"/>
    <p:sldId id="266" r:id="rId4"/>
    <p:sldId id="267" r:id="rId5"/>
    <p:sldId id="260" r:id="rId6"/>
    <p:sldId id="262" r:id="rId7"/>
    <p:sldId id="268" r:id="rId8"/>
    <p:sldId id="261" r:id="rId9"/>
    <p:sldId id="263" r:id="rId10"/>
    <p:sldId id="271" r:id="rId11"/>
    <p:sldId id="264" r:id="rId12"/>
    <p:sldId id="265" r:id="rId13"/>
    <p:sldId id="272" r:id="rId14"/>
    <p:sldId id="269" r:id="rId15"/>
    <p:sldId id="270" r:id="rId16"/>
  </p:sldIdLst>
  <p:sldSz cx="9144000" cy="6858000" type="screen4x3"/>
  <p:notesSz cx="6562725" cy="8686800"/>
  <p:defaultTextStyle>
    <a:defPPr>
      <a:defRPr lang="pl-P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kcja domyślna" id="{3511898B-9C4B-4AF3-88A7-B92A2C26F8EB}">
          <p14:sldIdLst>
            <p14:sldId id="256"/>
            <p14:sldId id="257"/>
            <p14:sldId id="266"/>
            <p14:sldId id="267"/>
            <p14:sldId id="260"/>
            <p14:sldId id="262"/>
            <p14:sldId id="268"/>
            <p14:sldId id="261"/>
            <p14:sldId id="263"/>
            <p14:sldId id="271"/>
            <p14:sldId id="264"/>
            <p14:sldId id="265"/>
            <p14:sldId id="272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90E"/>
    <a:srgbClr val="FFD3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>
      <p:cViewPr varScale="1">
        <p:scale>
          <a:sx n="81" d="100"/>
          <a:sy n="81" d="100"/>
        </p:scale>
        <p:origin x="149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43213" cy="4349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717925" y="0"/>
            <a:ext cx="2843213" cy="4349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202141-954C-403D-9562-4D1EE99BBAF9}" type="datetimeFigureOut">
              <a:rPr lang="pl-PL" smtClean="0"/>
              <a:t>13.11.2025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327150" y="1085850"/>
            <a:ext cx="3908425" cy="2932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55638" y="4179888"/>
            <a:ext cx="5251450" cy="34210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251825"/>
            <a:ext cx="2843213" cy="434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717925" y="8251825"/>
            <a:ext cx="2843213" cy="434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FDDB9-0358-42CD-9FB8-07606EE8D92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19763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52" name="Picture 12">
            <a:extLst>
              <a:ext uri="{FF2B5EF4-FFF2-40B4-BE49-F238E27FC236}">
                <a16:creationId xmlns:a16="http://schemas.microsoft.com/office/drawing/2014/main" id="{4FD96C47-436D-1525-D396-FE994073EC8B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22425"/>
            <a:ext cx="1655763" cy="523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3" name="Rectangle 3">
            <a:extLst>
              <a:ext uri="{FF2B5EF4-FFF2-40B4-BE49-F238E27FC236}">
                <a16:creationId xmlns:a16="http://schemas.microsoft.com/office/drawing/2014/main" id="{745D7111-A33C-DD9F-50EB-28FE9BD63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5763" y="1628775"/>
            <a:ext cx="7524750" cy="5229225"/>
          </a:xfrm>
          <a:prstGeom prst="rect">
            <a:avLst/>
          </a:prstGeom>
          <a:solidFill>
            <a:srgbClr val="A7190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l-PL"/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6A88E3BE-EC28-CB23-8CE9-34DE6B551C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73250" y="2130425"/>
            <a:ext cx="7089775" cy="20193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pl-PL" altLang="pl-PL" noProof="0"/>
              <a:t>Kliknij, aby edytować styl</a:t>
            </a:r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C254FE71-FF3D-3DC6-D52F-5F05D972B844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73250" y="5697538"/>
            <a:ext cx="7089775" cy="900112"/>
          </a:xfrm>
        </p:spPr>
        <p:txBody>
          <a:bodyPr anchor="b"/>
          <a:lstStyle>
            <a:lvl1pPr marL="0" indent="0" algn="ctr">
              <a:buFontTx/>
              <a:buNone/>
              <a:defRPr sz="2000">
                <a:solidFill>
                  <a:srgbClr val="FFD3A1"/>
                </a:solidFill>
              </a:defRPr>
            </a:lvl1pPr>
          </a:lstStyle>
          <a:p>
            <a:pPr lvl="0"/>
            <a:r>
              <a:rPr lang="pl-PL" altLang="pl-PL" noProof="0"/>
              <a:t>Kliknij, aby edytować styl wzorca podtytułu</a:t>
            </a:r>
          </a:p>
        </p:txBody>
      </p:sp>
      <p:pic>
        <p:nvPicPr>
          <p:cNvPr id="35856" name="Picture 16">
            <a:extLst>
              <a:ext uri="{FF2B5EF4-FFF2-40B4-BE49-F238E27FC236}">
                <a16:creationId xmlns:a16="http://schemas.microsoft.com/office/drawing/2014/main" id="{3C420141-3273-470D-ADFF-4AD1D509A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7463"/>
            <a:ext cx="7742238" cy="1646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randomBa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C035762-6372-0507-20AA-AFDC07065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E96E49A-BD15-F2A3-EFAA-997FA840B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3722967922"/>
      </p:ext>
    </p:extLst>
  </p:cSld>
  <p:clrMapOvr>
    <a:masterClrMapping/>
  </p:clrMapOvr>
  <p:transition>
    <p:randomBa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4109031-E8EA-6C12-8638-2B6232DF8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8CCEB96-D156-53A2-8D46-6EEA7E035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2067758160"/>
      </p:ext>
    </p:extLst>
  </p:cSld>
  <p:clrMapOvr>
    <a:masterClrMapping/>
  </p:clrMapOvr>
  <p:transition>
    <p:randomBa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C4149FB-A491-4C67-9A85-AB9CD56D0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6FBF6A-06C6-5E2D-3AE9-0178E664FC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1188" y="1881188"/>
            <a:ext cx="4135437" cy="4860925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CEB9B4E-E9F6-F585-794D-6BFED27FB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99025" y="1881188"/>
            <a:ext cx="4137025" cy="4860925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2573648923"/>
      </p:ext>
    </p:extLst>
  </p:cSld>
  <p:clrMapOvr>
    <a:masterClrMapping/>
  </p:clrMapOvr>
  <p:transition>
    <p:randomBa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146C3D2-4511-8F38-8FC0-7699E6BCF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013B6CB-BF4B-59B1-FF9E-935F61B67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4B5F8E0F-C67A-D085-5075-01C89A6222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F09ADFBF-9CE4-2221-28DD-16B5E9B3D4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C17CC294-7060-70BA-E50C-37C8F970C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3330460131"/>
      </p:ext>
    </p:extLst>
  </p:cSld>
  <p:clrMapOvr>
    <a:masterClrMapping/>
  </p:clrMapOvr>
  <p:transition>
    <p:randomBa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A33C14D-B227-F864-B029-8EE27E5F4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</p:spTree>
    <p:extLst>
      <p:ext uri="{BB962C8B-B14F-4D97-AF65-F5344CB8AC3E}">
        <p14:creationId xmlns:p14="http://schemas.microsoft.com/office/powerpoint/2010/main" val="1474917582"/>
      </p:ext>
    </p:extLst>
  </p:cSld>
  <p:clrMapOvr>
    <a:masterClrMapping/>
  </p:clrMapOvr>
  <p:transition>
    <p:randomBa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2851803"/>
      </p:ext>
    </p:extLst>
  </p:cSld>
  <p:clrMapOvr>
    <a:masterClrMapping/>
  </p:clrMapOvr>
  <p:transition>
    <p:randomBa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9FF1319-39B7-3D42-DAEE-94FEAC40B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BA56F8E-CAA5-0442-42DE-317BECD6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CAE03541-6D08-B753-8630-6E5FA4A49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2488491618"/>
      </p:ext>
    </p:extLst>
  </p:cSld>
  <p:clrMapOvr>
    <a:masterClrMapping/>
  </p:clrMapOvr>
  <p:transition>
    <p:randomBa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85DB96D-FCF5-8D05-1253-ABBE6ECF5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65E1C8D2-E587-09F7-2675-B4B69D05D7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A1CB509-FFA2-D5E6-6CF8-B4A8D73D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3741768385"/>
      </p:ext>
    </p:extLst>
  </p:cSld>
  <p:clrMapOvr>
    <a:masterClrMapping/>
  </p:clrMapOvr>
  <p:transition>
    <p:randomBa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12B7CC2-33B2-5607-C1F4-07BB0AA27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56DEA23-5FC8-FF55-5681-99F1191F6B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3805653244"/>
      </p:ext>
    </p:extLst>
  </p:cSld>
  <p:clrMapOvr>
    <a:masterClrMapping/>
  </p:clrMapOvr>
  <p:transition>
    <p:randomBa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DDB6A58C-2796-7EBA-2188-C16134FF5D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931025" y="630238"/>
            <a:ext cx="2105025" cy="6111875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104C3454-47B6-8D6C-CD1F-E0545459AD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1188" y="630238"/>
            <a:ext cx="6167437" cy="611187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2204051929"/>
      </p:ext>
    </p:extLst>
  </p:cSld>
  <p:clrMapOvr>
    <a:masterClrMapping/>
  </p:clrMapOvr>
  <p:transition>
    <p:randomBa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6" name="Rectangle 10">
            <a:extLst>
              <a:ext uri="{FF2B5EF4-FFF2-40B4-BE49-F238E27FC236}">
                <a16:creationId xmlns:a16="http://schemas.microsoft.com/office/drawing/2014/main" id="{F69263E4-E4FB-4711-0303-5A20BADEF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481013"/>
            <a:ext cx="8640762" cy="1292225"/>
          </a:xfrm>
          <a:prstGeom prst="rect">
            <a:avLst/>
          </a:prstGeom>
          <a:solidFill>
            <a:srgbClr val="A7190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l-PL"/>
          </a:p>
        </p:txBody>
      </p:sp>
      <p:sp>
        <p:nvSpPr>
          <p:cNvPr id="9229" name="Rectangle 13">
            <a:extLst>
              <a:ext uri="{FF2B5EF4-FFF2-40B4-BE49-F238E27FC236}">
                <a16:creationId xmlns:a16="http://schemas.microsoft.com/office/drawing/2014/main" id="{02F4BA18-1A63-902B-9203-47ADFB28B5E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0" y="1773238"/>
            <a:ext cx="503238" cy="5084762"/>
          </a:xfrm>
          <a:prstGeom prst="rect">
            <a:avLst/>
          </a:prstGeom>
          <a:solidFill>
            <a:srgbClr val="A7190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l-PL"/>
          </a:p>
        </p:txBody>
      </p:sp>
      <p:sp>
        <p:nvSpPr>
          <p:cNvPr id="9230" name="Rectangle 14">
            <a:extLst>
              <a:ext uri="{FF2B5EF4-FFF2-40B4-BE49-F238E27FC236}">
                <a16:creationId xmlns:a16="http://schemas.microsoft.com/office/drawing/2014/main" id="{976D4FD4-BAE0-9B7A-F1FF-07B66CEA0E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630238"/>
            <a:ext cx="8424862" cy="103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 wzorca tytułu</a:t>
            </a:r>
          </a:p>
        </p:txBody>
      </p:sp>
      <p:sp>
        <p:nvSpPr>
          <p:cNvPr id="9231" name="Rectangle 15">
            <a:extLst>
              <a:ext uri="{FF2B5EF4-FFF2-40B4-BE49-F238E27FC236}">
                <a16:creationId xmlns:a16="http://schemas.microsoft.com/office/drawing/2014/main" id="{DA87AC08-0AF4-4490-8D68-92850C293C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881188"/>
            <a:ext cx="8424862" cy="4860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style wzorca tekstu</a:t>
            </a:r>
          </a:p>
          <a:p>
            <a:pPr lvl="1"/>
            <a:r>
              <a:rPr lang="pl-PL" altLang="pl-PL"/>
              <a:t>Drugi poziom</a:t>
            </a:r>
          </a:p>
          <a:p>
            <a:pPr lvl="2"/>
            <a:r>
              <a:rPr lang="pl-PL" altLang="pl-PL"/>
              <a:t>Trzeci poziom</a:t>
            </a:r>
          </a:p>
          <a:p>
            <a:pPr lvl="3"/>
            <a:r>
              <a:rPr lang="pl-PL" altLang="pl-PL"/>
              <a:t>Czwarty poziom</a:t>
            </a:r>
          </a:p>
          <a:p>
            <a:pPr lvl="4"/>
            <a:r>
              <a:rPr lang="pl-PL" altLang="pl-PL"/>
              <a:t>Piąty poziom</a:t>
            </a:r>
          </a:p>
        </p:txBody>
      </p:sp>
      <p:pic>
        <p:nvPicPr>
          <p:cNvPr id="9234" name="Picture 18">
            <a:extLst>
              <a:ext uri="{FF2B5EF4-FFF2-40B4-BE49-F238E27FC236}">
                <a16:creationId xmlns:a16="http://schemas.microsoft.com/office/drawing/2014/main" id="{50087FA1-5D0B-4253-8A4E-8FD82C8B87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8" y="-19050"/>
            <a:ext cx="2341563" cy="50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>
    <p:randomBar/>
  </p:transition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anose="020B0603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anose="020B0603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anose="020B0603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anose="020B0603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anose="020B0603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anose="020B0603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anose="020B0603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anose="020B0603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f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D2386331-CC71-EC97-FC18-1A0DF1507E4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ln>
            <a:solidFill>
              <a:srgbClr val="A7190E"/>
            </a:solidFill>
          </a:ln>
        </p:spPr>
        <p:txBody>
          <a:bodyPr/>
          <a:lstStyle/>
          <a:p>
            <a:r>
              <a:rPr lang="pl-PL" b="0" i="0" u="none" strike="noStrike" dirty="0">
                <a:solidFill>
                  <a:schemeClr val="bg1"/>
                </a:solidFill>
                <a:effectLst/>
                <a:latin typeface="Roboto" panose="020F0502020204030204" pitchFamily="34" charset="0"/>
              </a:rPr>
              <a:t>Ślizgowy regulator prędkości silnika prądu stałego</a:t>
            </a:r>
            <a:endParaRPr lang="pl-PL" dirty="0">
              <a:solidFill>
                <a:schemeClr val="bg1"/>
              </a:solidFill>
            </a:endParaRP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CE72F088-0717-3042-0735-8FB6BD63D67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l-PL" altLang="pl-PL" dirty="0"/>
          </a:p>
          <a:p>
            <a:r>
              <a:rPr lang="pl-PL" altLang="pl-PL" dirty="0"/>
              <a:t>Bartosz Orchowski</a:t>
            </a:r>
          </a:p>
          <a:p>
            <a:r>
              <a:rPr lang="pl-PL" altLang="pl-PL" dirty="0"/>
              <a:t>Promotor: </a:t>
            </a:r>
            <a:r>
              <a:rPr lang="pl-PL" dirty="0"/>
              <a:t>dr hab. inż. Marcin Kamiński, prof. uczelni </a:t>
            </a:r>
            <a:endParaRPr lang="pl-PL" altLang="pl-PL" dirty="0"/>
          </a:p>
        </p:txBody>
      </p:sp>
    </p:spTree>
  </p:cSld>
  <p:clrMapOvr>
    <a:masterClrMapping/>
  </p:clrMapOvr>
  <p:transition>
    <p:randomBa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A58EF79E-0C0D-B539-DEFC-37C3205CEE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l-PL" altLang="pl-PL" dirty="0"/>
              <a:t>Cel pracy i zakres pracy</a:t>
            </a:r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BEAC5C78-221A-8B2F-E727-DA3D9FB211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sz="1800" dirty="0">
                <a:solidFill>
                  <a:srgbClr val="222222"/>
                </a:solidFill>
              </a:rPr>
              <a:t>Celem pracy jest:</a:t>
            </a:r>
          </a:p>
          <a:p>
            <a:r>
              <a:rPr lang="pl-PL" sz="1800" dirty="0">
                <a:solidFill>
                  <a:srgbClr val="222222"/>
                </a:solidFill>
              </a:rPr>
              <a:t>An</a:t>
            </a:r>
            <a:r>
              <a:rPr lang="pl-PL" sz="1800" b="0" i="0" u="none" strike="noStrike" dirty="0">
                <a:solidFill>
                  <a:srgbClr val="222222"/>
                </a:solidFill>
                <a:effectLst/>
              </a:rPr>
              <a:t>aliza oraz zastosowanie odpornego regulatora prędkości w układzie napędowym z silnikiem prądu stałego</a:t>
            </a:r>
            <a:r>
              <a:rPr lang="pl-PL" sz="1800" dirty="0"/>
              <a:t>. </a:t>
            </a:r>
          </a:p>
          <a:p>
            <a:r>
              <a:rPr lang="pl-PL" sz="1800" dirty="0">
                <a:solidFill>
                  <a:srgbClr val="222222"/>
                </a:solidFill>
              </a:rPr>
              <a:t>R</a:t>
            </a:r>
            <a:r>
              <a:rPr lang="pl-PL" sz="1800" b="0" i="0" u="none" strike="noStrike" dirty="0">
                <a:solidFill>
                  <a:srgbClr val="222222"/>
                </a:solidFill>
                <a:effectLst/>
              </a:rPr>
              <a:t>ozważania związane z wariantem sterowania ślizgowego</a:t>
            </a:r>
            <a:endParaRPr lang="pl-PL" sz="1800" dirty="0"/>
          </a:p>
          <a:p>
            <a:r>
              <a:rPr lang="pl-PL" sz="1800" dirty="0">
                <a:solidFill>
                  <a:srgbClr val="222222"/>
                </a:solidFill>
              </a:rPr>
              <a:t>P</a:t>
            </a:r>
            <a:r>
              <a:rPr lang="pl-PL" sz="1800" b="0" i="0" u="none" strike="noStrike" dirty="0">
                <a:solidFill>
                  <a:srgbClr val="222222"/>
                </a:solidFill>
                <a:effectLst/>
              </a:rPr>
              <a:t>rzegląd literatury oraz testy symulacyjne</a:t>
            </a:r>
          </a:p>
          <a:p>
            <a:pPr marL="0" indent="0">
              <a:buNone/>
            </a:pPr>
            <a:r>
              <a:rPr lang="pl-PL" sz="1800" dirty="0">
                <a:solidFill>
                  <a:srgbClr val="222222"/>
                </a:solidFill>
              </a:rPr>
              <a:t>Zakres pracy obejmuje:</a:t>
            </a:r>
          </a:p>
          <a:p>
            <a:r>
              <a:rPr lang="pl-PL" sz="1800" dirty="0">
                <a:solidFill>
                  <a:srgbClr val="222222"/>
                </a:solidFill>
              </a:rPr>
              <a:t>Implementacja regulatora w układzie programowanym z rdzeniem ARM</a:t>
            </a:r>
            <a:endParaRPr lang="pl-PL" sz="1800" dirty="0"/>
          </a:p>
          <a:p>
            <a:r>
              <a:rPr lang="pl-PL" sz="1800" dirty="0">
                <a:solidFill>
                  <a:srgbClr val="222222"/>
                </a:solidFill>
              </a:rPr>
              <a:t>Modernizacja stanowiska laboratoryjnego oraz testy algorytmu sterowania</a:t>
            </a:r>
            <a:endParaRPr lang="pl-PL" sz="1800" dirty="0"/>
          </a:p>
          <a:p>
            <a:pPr marL="0" indent="0">
              <a:buNone/>
            </a:pPr>
            <a:endParaRPr lang="pl-PL" sz="1800" dirty="0"/>
          </a:p>
        </p:txBody>
      </p:sp>
    </p:spTree>
  </p:cSld>
  <p:clrMapOvr>
    <a:masterClrMapping/>
  </p:clrMapOvr>
  <p:transition>
    <p:randomBa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D42AC95-8F90-9B1D-F87C-3FE94983D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Sliding</a:t>
            </a:r>
            <a:r>
              <a:rPr lang="pl-PL" dirty="0"/>
              <a:t> </a:t>
            </a:r>
            <a:r>
              <a:rPr lang="pl-PL" dirty="0" err="1"/>
              <a:t>Mode</a:t>
            </a:r>
            <a:r>
              <a:rPr lang="pl-PL" dirty="0"/>
              <a:t> Control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9171E59-D6C8-E428-B9FB-E08BB041C1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sz="1800" dirty="0">
                <a:ea typeface="Roboto" panose="02000000000000000000" pitchFamily="2" charset="0"/>
                <a:cs typeface="Roboto" panose="02000000000000000000" pitchFamily="2" charset="0"/>
              </a:rPr>
              <a:t>Sterowanie ślizgowe jest nieliniową strategią sterowania, która jest ceniona za swoje właściwości, takie jak odporność na niepewności </a:t>
            </a:r>
            <a:br>
              <a:rPr lang="pl-PL" sz="1800" dirty="0"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pl-PL" sz="1800" dirty="0">
                <a:ea typeface="Roboto" panose="02000000000000000000" pitchFamily="2" charset="0"/>
                <a:cs typeface="Roboto" panose="02000000000000000000" pitchFamily="2" charset="0"/>
              </a:rPr>
              <a:t>i zakłócenia oraz stosunkowo prostą implementacje i strojenie.</a:t>
            </a:r>
          </a:p>
          <a:p>
            <a:pPr marL="0" indent="0">
              <a:buNone/>
            </a:pPr>
            <a:r>
              <a:rPr lang="pl-PL" sz="1800" dirty="0">
                <a:ea typeface="Roboto" panose="02000000000000000000" pitchFamily="2" charset="0"/>
                <a:cs typeface="Roboto" panose="02000000000000000000" pitchFamily="2" charset="0"/>
              </a:rPr>
              <a:t>Główną wadą SMC jest </a:t>
            </a:r>
            <a:r>
              <a:rPr lang="pl-PL" sz="1800" dirty="0" err="1">
                <a:ea typeface="Roboto" panose="02000000000000000000" pitchFamily="2" charset="0"/>
                <a:cs typeface="Roboto" panose="02000000000000000000" pitchFamily="2" charset="0"/>
              </a:rPr>
              <a:t>chattering</a:t>
            </a:r>
            <a:r>
              <a:rPr lang="pl-PL" sz="1800" dirty="0">
                <a:ea typeface="Roboto" panose="02000000000000000000" pitchFamily="2" charset="0"/>
                <a:cs typeface="Roboto" panose="02000000000000000000" pitchFamily="2" charset="0"/>
              </a:rPr>
              <a:t>, czyli szybkie oscylacje stanu systemu wokół hiperpowierzchni. Wynika ono </a:t>
            </a:r>
            <a:br>
              <a:rPr lang="pl-PL" sz="1800" dirty="0"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pl-PL" sz="1800" dirty="0">
                <a:ea typeface="Roboto" panose="02000000000000000000" pitchFamily="2" charset="0"/>
                <a:cs typeface="Roboto" panose="02000000000000000000" pitchFamily="2" charset="0"/>
              </a:rPr>
              <a:t>z niedoskonałości fizycznych regulatorów, na przykład ograniczenia częstotliwości przełączeń.</a:t>
            </a:r>
          </a:p>
        </p:txBody>
      </p:sp>
      <p:pic>
        <p:nvPicPr>
          <p:cNvPr id="1026" name="Picture 2" descr="Fixed-Time-Convergent Sliding Mode Control with Sliding Mode Observer for  PMSM Speed Regulation">
            <a:extLst>
              <a:ext uri="{FF2B5EF4-FFF2-40B4-BE49-F238E27FC236}">
                <a16:creationId xmlns:a16="http://schemas.microsoft.com/office/drawing/2014/main" id="{42E09C74-75AC-FE18-694D-F47468C8C09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9319" y="1988840"/>
            <a:ext cx="3580283" cy="3196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FDFFA673-5D8E-DDD5-0C24-10257AF5C662}"/>
              </a:ext>
            </a:extLst>
          </p:cNvPr>
          <p:cNvSpPr txBox="1"/>
          <p:nvPr/>
        </p:nvSpPr>
        <p:spPr>
          <a:xfrm>
            <a:off x="5754927" y="5185368"/>
            <a:ext cx="2709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dirty="0"/>
              <a:t>Rys. 1 Ruch ślizgowy</a:t>
            </a:r>
          </a:p>
        </p:txBody>
      </p:sp>
    </p:spTree>
    <p:extLst>
      <p:ext uri="{BB962C8B-B14F-4D97-AF65-F5344CB8AC3E}">
        <p14:creationId xmlns:p14="http://schemas.microsoft.com/office/powerpoint/2010/main" val="2331910314"/>
      </p:ext>
    </p:extLst>
  </p:cSld>
  <p:clrMapOvr>
    <a:masterClrMapping/>
  </p:clrMapOvr>
  <p:transition>
    <p:randomBa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5B7B869-31CB-E713-1989-24CD54B36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Fazy projektowania SMC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D4DC306-CEC7-73CF-CEAF-CA736D017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sz="1800" dirty="0">
                <a:ea typeface="Roboto" panose="02000000000000000000" pitchFamily="2" charset="0"/>
                <a:cs typeface="Roboto" panose="02000000000000000000" pitchFamily="2" charset="0"/>
              </a:rPr>
              <a:t>Definicja hiperpowierzchni ślizgowej:</a:t>
            </a:r>
          </a:p>
          <a:p>
            <a:pPr marL="0" indent="0">
              <a:buNone/>
            </a:pPr>
            <a:r>
              <a:rPr lang="pl-PL" sz="1800" dirty="0">
                <a:ea typeface="Roboto" panose="02000000000000000000" pitchFamily="2" charset="0"/>
                <a:cs typeface="Roboto" panose="02000000000000000000" pitchFamily="2" charset="0"/>
              </a:rPr>
              <a:t>Hiperpowierzchnia ta jest najczęściej wybierana jako kombinacja liniowa uchybu (</a:t>
            </a:r>
            <a:r>
              <a:rPr lang="pl-PL" sz="1800" i="1" dirty="0">
                <a:ea typeface="Roboto" panose="02000000000000000000" pitchFamily="2" charset="0"/>
                <a:cs typeface="Roboto" panose="02000000000000000000" pitchFamily="2" charset="0"/>
              </a:rPr>
              <a:t>e</a:t>
            </a:r>
            <a:r>
              <a:rPr lang="pl-PL" sz="1800" dirty="0">
                <a:ea typeface="Roboto" panose="02000000000000000000" pitchFamily="2" charset="0"/>
                <a:cs typeface="Roboto" panose="02000000000000000000" pitchFamily="2" charset="0"/>
              </a:rPr>
              <a:t>) i jego pochodnych:</a:t>
            </a:r>
          </a:p>
          <a:p>
            <a:pPr marL="0" indent="0" algn="ctr">
              <a:buNone/>
            </a:pPr>
            <a:r>
              <a:rPr lang="pl-PL" sz="1800" i="1" dirty="0">
                <a:ea typeface="Roboto" panose="02000000000000000000" pitchFamily="2" charset="0"/>
                <a:cs typeface="Roboto" panose="02000000000000000000" pitchFamily="2" charset="0"/>
              </a:rPr>
              <a:t> σ=</a:t>
            </a:r>
            <a:r>
              <a:rPr lang="lt-LT" sz="1800" i="1" dirty="0">
                <a:ea typeface="Roboto" panose="02000000000000000000" pitchFamily="2" charset="0"/>
                <a:cs typeface="Roboto" panose="02000000000000000000" pitchFamily="2" charset="0"/>
              </a:rPr>
              <a:t>ė</a:t>
            </a:r>
            <a:r>
              <a:rPr lang="pl-PL" sz="1800" i="1" dirty="0">
                <a:ea typeface="Roboto" panose="02000000000000000000" pitchFamily="2" charset="0"/>
                <a:cs typeface="Roboto" panose="02000000000000000000" pitchFamily="2" charset="0"/>
              </a:rPr>
              <a:t>+Ce</a:t>
            </a:r>
          </a:p>
          <a:p>
            <a:pPr marL="0" indent="0">
              <a:buNone/>
            </a:pPr>
            <a:r>
              <a:rPr lang="pl-PL" sz="1800" dirty="0">
                <a:ea typeface="Roboto" panose="02000000000000000000" pitchFamily="2" charset="0"/>
                <a:cs typeface="Roboto" panose="02000000000000000000" pitchFamily="2" charset="0"/>
              </a:rPr>
              <a:t>Ustawienie </a:t>
            </a:r>
            <a:r>
              <a:rPr lang="pl-PL" sz="1800" i="1" dirty="0">
                <a:ea typeface="Roboto" panose="02000000000000000000" pitchFamily="2" charset="0"/>
                <a:cs typeface="Roboto" panose="02000000000000000000" pitchFamily="2" charset="0"/>
              </a:rPr>
              <a:t>σ</a:t>
            </a:r>
            <a:r>
              <a:rPr lang="pl-PL" sz="1800" dirty="0">
                <a:ea typeface="Roboto" panose="02000000000000000000" pitchFamily="2" charset="0"/>
                <a:cs typeface="Roboto" panose="02000000000000000000" pitchFamily="2" charset="0"/>
              </a:rPr>
              <a:t>=0 definiuje samą hiperpowierzchnię ślizgową.</a:t>
            </a:r>
          </a:p>
          <a:p>
            <a:pPr marL="0" indent="0">
              <a:buNone/>
            </a:pPr>
            <a:endParaRPr lang="pl-PL" sz="1800" dirty="0"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None/>
            </a:pPr>
            <a:r>
              <a:rPr lang="pl-PL" sz="1800" dirty="0">
                <a:ea typeface="Roboto" panose="02000000000000000000" pitchFamily="2" charset="0"/>
                <a:cs typeface="Roboto" panose="02000000000000000000" pitchFamily="2" charset="0"/>
              </a:rPr>
              <a:t>Projektowanie prawa sterowania (</a:t>
            </a:r>
            <a:r>
              <a:rPr lang="pl-PL" sz="1800" i="1" dirty="0">
                <a:ea typeface="Roboto" panose="02000000000000000000" pitchFamily="2" charset="0"/>
                <a:cs typeface="Roboto" panose="02000000000000000000" pitchFamily="2" charset="0"/>
              </a:rPr>
              <a:t>u</a:t>
            </a:r>
            <a:r>
              <a:rPr lang="pl-PL" sz="1800" dirty="0">
                <a:ea typeface="Roboto" panose="02000000000000000000" pitchFamily="2" charset="0"/>
                <a:cs typeface="Roboto" panose="02000000000000000000" pitchFamily="2" charset="0"/>
              </a:rPr>
              <a:t>): </a:t>
            </a:r>
          </a:p>
          <a:p>
            <a:pPr marL="0" indent="0">
              <a:buNone/>
            </a:pPr>
            <a:r>
              <a:rPr lang="pl-PL" sz="1800" dirty="0">
                <a:ea typeface="Roboto" panose="02000000000000000000" pitchFamily="2" charset="0"/>
                <a:cs typeface="Roboto" panose="02000000000000000000" pitchFamily="2" charset="0"/>
              </a:rPr>
              <a:t>Sterowanie musi być zaprojektowane tak, aby zagwarantować, że trajektorie systemu dotrą do powierzchni ślizgowej w skończonym czasie i pozostaną na niej. Wymaga to nieciągłego działania sterującego (przełączania). Aby to osiągnąć, musi być spełniony warunek osiągalności, który zapewnia, że wektor stanu jest zawsze kierowany w stronę powierzchni.</a:t>
            </a:r>
            <a:endParaRPr lang="pl-PL" sz="400" i="1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789786"/>
      </p:ext>
    </p:extLst>
  </p:cSld>
  <p:clrMapOvr>
    <a:masterClrMapping/>
  </p:clrMapOvr>
  <p:transition>
    <p:randomBa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4A6676D-12EF-BA3B-15BF-1B9571D37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Podstawowe SMC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840750FD-07D0-1B02-055C-8687E44F81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11188" y="2433920"/>
            <a:ext cx="8424862" cy="3755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3DCEEE17-3BA6-BFBF-6B56-BEA61DE80FDE}"/>
              </a:ext>
            </a:extLst>
          </p:cNvPr>
          <p:cNvSpPr txBox="1"/>
          <p:nvPr/>
        </p:nvSpPr>
        <p:spPr>
          <a:xfrm>
            <a:off x="3469086" y="6089262"/>
            <a:ext cx="2709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dirty="0"/>
              <a:t>Rys. 2 Model regulatora w programie </a:t>
            </a:r>
            <a:r>
              <a:rPr lang="pl-PL" sz="1200" dirty="0" err="1"/>
              <a:t>Matlab</a:t>
            </a:r>
            <a:r>
              <a:rPr lang="pl-PL" sz="1200" dirty="0"/>
              <a:t>/</a:t>
            </a:r>
            <a:r>
              <a:rPr lang="pl-PL" sz="1200" dirty="0" err="1"/>
              <a:t>Simulink</a:t>
            </a:r>
            <a:endParaRPr lang="pl-PL" sz="1200" dirty="0"/>
          </a:p>
        </p:txBody>
      </p:sp>
    </p:spTree>
    <p:extLst>
      <p:ext uri="{BB962C8B-B14F-4D97-AF65-F5344CB8AC3E}">
        <p14:creationId xmlns:p14="http://schemas.microsoft.com/office/powerpoint/2010/main" val="1883493929"/>
      </p:ext>
    </p:extLst>
  </p:cSld>
  <p:clrMapOvr>
    <a:masterClrMapping/>
  </p:clrMapOvr>
  <p:transition>
    <p:randomBa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8BEEDB-1752-C3B2-14CE-1A1A1BBF5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Wyniki symulacji 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E5FA2696-32CF-799A-7968-208F2B5459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11188" y="2826346"/>
            <a:ext cx="3960812" cy="2970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00B41C1D-1785-1FA6-7561-3F9EABDAF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620" y="2825348"/>
            <a:ext cx="3960812" cy="2970609"/>
          </a:xfrm>
          <a:prstGeom prst="rect">
            <a:avLst/>
          </a:prstGeom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FE67C257-48B1-9A8D-F6E5-33FC9E3EA752}"/>
              </a:ext>
            </a:extLst>
          </p:cNvPr>
          <p:cNvSpPr txBox="1"/>
          <p:nvPr/>
        </p:nvSpPr>
        <p:spPr>
          <a:xfrm>
            <a:off x="1237061" y="5996929"/>
            <a:ext cx="2709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dirty="0"/>
              <a:t>Rys. 3 Wykres prędkości zadanej </a:t>
            </a:r>
            <a:br>
              <a:rPr lang="pl-PL" sz="1200" dirty="0"/>
            </a:br>
            <a:r>
              <a:rPr lang="pl-PL" sz="1200" dirty="0"/>
              <a:t>i rzeczywistej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B4C5C0C8-8E7E-7CCD-6938-02906DF90ED5}"/>
              </a:ext>
            </a:extLst>
          </p:cNvPr>
          <p:cNvSpPr txBox="1"/>
          <p:nvPr/>
        </p:nvSpPr>
        <p:spPr>
          <a:xfrm>
            <a:off x="5458493" y="5992036"/>
            <a:ext cx="2709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dirty="0"/>
              <a:t>Rys. 4 Zbliżenie na wykres prędkości zadanej </a:t>
            </a:r>
            <a:br>
              <a:rPr lang="pl-PL" sz="1200" dirty="0"/>
            </a:br>
            <a:r>
              <a:rPr lang="pl-PL" sz="1200" dirty="0"/>
              <a:t>i rzeczywistej</a:t>
            </a:r>
          </a:p>
        </p:txBody>
      </p:sp>
    </p:spTree>
    <p:extLst>
      <p:ext uri="{BB962C8B-B14F-4D97-AF65-F5344CB8AC3E}">
        <p14:creationId xmlns:p14="http://schemas.microsoft.com/office/powerpoint/2010/main" val="4262620610"/>
      </p:ext>
    </p:extLst>
  </p:cSld>
  <p:clrMapOvr>
    <a:masterClrMapping/>
  </p:clrMapOvr>
  <p:transition>
    <p:randomBa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1368E9A-1B97-87F7-BF06-C5E05569F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Super </a:t>
            </a:r>
            <a:r>
              <a:rPr lang="pl-PL" dirty="0" err="1"/>
              <a:t>Twisting</a:t>
            </a:r>
            <a:r>
              <a:rPr lang="pl-PL" dirty="0"/>
              <a:t> -SMC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007E2B3-053A-EB4E-4FD9-54C4AB3FE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sz="1800" dirty="0"/>
              <a:t>Jest to Sterowanie Ślizgowe Wyższego Rzędu, kontroler ten nie tylko kieruje zmienną ślizgową do zera, ale również zapewnia, że pochodna zmiennej ślizgowej zbiega do zera w skończonym czasie, ustanawiając ruch ślizgowy drugiego rzędu.</a:t>
            </a:r>
          </a:p>
          <a:p>
            <a:pPr marL="0" indent="0">
              <a:buNone/>
            </a:pPr>
            <a:endParaRPr lang="pl-PL" sz="1800" dirty="0"/>
          </a:p>
          <a:p>
            <a:pPr marL="0" indent="0">
              <a:buNone/>
            </a:pPr>
            <a:r>
              <a:rPr lang="pl-PL" sz="1800" dirty="0"/>
              <a:t>Kluczowym celem ST-SMC jest eliminacja lub znacząca redukcja </a:t>
            </a:r>
            <a:r>
              <a:rPr lang="pl-PL" sz="1800" dirty="0" err="1"/>
              <a:t>chatteringu</a:t>
            </a:r>
            <a:r>
              <a:rPr lang="pl-PL" sz="1800" dirty="0"/>
              <a:t> (szybkich oscylacji). W tradycyjnym SMC, </a:t>
            </a:r>
            <a:r>
              <a:rPr lang="pl-PL" sz="1800" dirty="0" err="1"/>
              <a:t>chattering</a:t>
            </a:r>
            <a:r>
              <a:rPr lang="pl-PL" sz="1800" dirty="0"/>
              <a:t> powstaje w wyniku nieciągłej funkcji przełączającej, ST-SMC rozwiązuje ten problem, gwarantując, że sygnał sterujący jest ciągły w czasie. Osiąga się to poprzez wprowadzenie sterowania nieciągłego na wyższej pochodnej zmiennej ślizgowej.</a:t>
            </a:r>
          </a:p>
          <a:p>
            <a:pPr marL="0" indent="0">
              <a:buNone/>
            </a:pPr>
            <a:endParaRPr lang="pl-PL" sz="800" dirty="0"/>
          </a:p>
        </p:txBody>
      </p:sp>
    </p:spTree>
    <p:extLst>
      <p:ext uri="{BB962C8B-B14F-4D97-AF65-F5344CB8AC3E}">
        <p14:creationId xmlns:p14="http://schemas.microsoft.com/office/powerpoint/2010/main" val="2293198632"/>
      </p:ext>
    </p:extLst>
  </p:cSld>
  <p:clrMapOvr>
    <a:masterClrMapping/>
  </p:clrMapOvr>
  <p:transition>
    <p:randomBa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0371524-CE2C-7A7D-C013-2A99F8D8D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ST-SMC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F6EC2065-B5EA-D0FF-3D02-9079652BC4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3140" b="21396"/>
          <a:stretch>
            <a:fillRect/>
          </a:stretch>
        </p:blipFill>
        <p:spPr bwMode="auto">
          <a:xfrm>
            <a:off x="709948" y="3440011"/>
            <a:ext cx="8424862" cy="26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C51B320C-9D0F-730C-FB73-9F747070A512}"/>
              </a:ext>
            </a:extLst>
          </p:cNvPr>
          <p:cNvSpPr txBox="1"/>
          <p:nvPr/>
        </p:nvSpPr>
        <p:spPr>
          <a:xfrm>
            <a:off x="3469086" y="6028060"/>
            <a:ext cx="2709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dirty="0"/>
              <a:t>Rys. 5 Model regulatora w programie </a:t>
            </a:r>
            <a:r>
              <a:rPr lang="pl-PL" sz="1200" dirty="0" err="1"/>
              <a:t>Matlab</a:t>
            </a:r>
            <a:r>
              <a:rPr lang="pl-PL" sz="1200" dirty="0"/>
              <a:t>/</a:t>
            </a:r>
            <a:r>
              <a:rPr lang="pl-PL" sz="1200" dirty="0" err="1"/>
              <a:t>Simulink</a:t>
            </a:r>
            <a:endParaRPr lang="pl-PL" sz="1200" dirty="0"/>
          </a:p>
        </p:txBody>
      </p:sp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B8C7BEDF-F3B0-BAFC-F39E-728BB91C8236}"/>
              </a:ext>
            </a:extLst>
          </p:cNvPr>
          <p:cNvCxnSpPr>
            <a:cxnSpLocks/>
          </p:cNvCxnSpPr>
          <p:nvPr/>
        </p:nvCxnSpPr>
        <p:spPr>
          <a:xfrm flipH="1">
            <a:off x="4481079" y="3687317"/>
            <a:ext cx="441300" cy="834380"/>
          </a:xfrm>
          <a:prstGeom prst="straightConnector1">
            <a:avLst/>
          </a:prstGeom>
          <a:ln>
            <a:solidFill>
              <a:srgbClr val="A7190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CA0B7127-2903-6A79-AB6A-ED90AB69B6F0}"/>
                  </a:ext>
                </a:extLst>
              </p:cNvPr>
              <p:cNvSpPr txBox="1"/>
              <p:nvPr/>
            </p:nvSpPr>
            <p:spPr>
              <a:xfrm>
                <a:off x="3203848" y="1916832"/>
                <a:ext cx="5832202" cy="1770485"/>
              </a:xfrm>
              <a:prstGeom prst="rect">
                <a:avLst/>
              </a:prstGeom>
              <a:noFill/>
              <a:ln>
                <a:solidFill>
                  <a:srgbClr val="A7190E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l-PL" sz="1100"/>
                        <m:t>W</m:t>
                      </m:r>
                      <m:r>
                        <m:rPr>
                          <m:nor/>
                        </m:rPr>
                        <a:rPr lang="pl-PL" sz="1100"/>
                        <m:t> </m:t>
                      </m:r>
                      <m:r>
                        <m:rPr>
                          <m:nor/>
                        </m:rPr>
                        <a:rPr lang="pl-PL" sz="1100"/>
                        <m:t>algorytmie</m:t>
                      </m:r>
                      <m:r>
                        <m:rPr>
                          <m:nor/>
                        </m:rPr>
                        <a:rPr lang="pl-PL" sz="1100"/>
                        <m:t> </m:t>
                      </m:r>
                      <m:r>
                        <m:rPr>
                          <m:nor/>
                        </m:rPr>
                        <a:rPr lang="pl-PL" sz="1100"/>
                        <m:t>Super</m:t>
                      </m:r>
                      <m:r>
                        <m:rPr>
                          <m:nor/>
                        </m:rPr>
                        <a:rPr lang="pl-PL" sz="1100"/>
                        <m:t>-</m:t>
                      </m:r>
                      <m:r>
                        <m:rPr>
                          <m:nor/>
                        </m:rPr>
                        <a:rPr lang="pl-PL" sz="1100"/>
                        <m:t>Twisting</m:t>
                      </m:r>
                      <m:r>
                        <m:rPr>
                          <m:nor/>
                        </m:rPr>
                        <a:rPr lang="pl-PL" sz="1100"/>
                        <m:t> </m:t>
                      </m:r>
                      <m:r>
                        <m:rPr>
                          <m:nor/>
                        </m:rPr>
                        <a:rPr lang="pl-PL" sz="1100"/>
                        <m:t>SMC</m:t>
                      </m:r>
                      <m:r>
                        <m:rPr>
                          <m:nor/>
                        </m:rPr>
                        <a:rPr lang="pl-PL" sz="1100"/>
                        <m:t> </m:t>
                      </m:r>
                      <m:r>
                        <m:rPr>
                          <m:nor/>
                        </m:rPr>
                        <a:rPr lang="pl-PL" sz="1100"/>
                        <m:t>sygna</m:t>
                      </m:r>
                      <m:r>
                        <m:rPr>
                          <m:nor/>
                        </m:rPr>
                        <a:rPr lang="pl-PL" sz="1100"/>
                        <m:t>ł </m:t>
                      </m:r>
                      <m:r>
                        <m:rPr>
                          <m:nor/>
                        </m:rPr>
                        <a:rPr lang="pl-PL" sz="1100"/>
                        <m:t>steruj</m:t>
                      </m:r>
                      <m:r>
                        <m:rPr>
                          <m:nor/>
                        </m:rPr>
                        <a:rPr lang="pl-PL" sz="1100"/>
                        <m:t>ą</m:t>
                      </m:r>
                      <m:r>
                        <m:rPr>
                          <m:nor/>
                        </m:rPr>
                        <a:rPr lang="pl-PL" sz="1100"/>
                        <m:t>cy</m:t>
                      </m:r>
                      <m:r>
                        <m:rPr>
                          <m:nor/>
                        </m:rPr>
                        <a:rPr lang="pl-PL" sz="1100"/>
                        <m:t> </m:t>
                      </m:r>
                      <m:r>
                        <m:rPr>
                          <m:nor/>
                        </m:rPr>
                        <a:rPr lang="pl-PL" sz="1100"/>
                        <m:t>sk</m:t>
                      </m:r>
                      <m:r>
                        <m:rPr>
                          <m:nor/>
                        </m:rPr>
                        <a:rPr lang="pl-PL" sz="1100"/>
                        <m:t>ł</m:t>
                      </m:r>
                      <m:r>
                        <m:rPr>
                          <m:nor/>
                        </m:rPr>
                        <a:rPr lang="pl-PL" sz="1100"/>
                        <m:t>ada</m:t>
                      </m:r>
                      <m:r>
                        <m:rPr>
                          <m:nor/>
                        </m:rPr>
                        <a:rPr lang="pl-PL" sz="1100"/>
                        <m:t> </m:t>
                      </m:r>
                      <m:r>
                        <m:rPr>
                          <m:nor/>
                        </m:rPr>
                        <a:rPr lang="pl-PL" sz="1100"/>
                        <m:t>si</m:t>
                      </m:r>
                      <m:r>
                        <m:rPr>
                          <m:nor/>
                        </m:rPr>
                        <a:rPr lang="pl-PL" sz="1100"/>
                        <m:t>ę </m:t>
                      </m:r>
                      <m:r>
                        <m:rPr>
                          <m:nor/>
                        </m:rPr>
                        <a:rPr lang="pl-PL" sz="1100"/>
                        <m:t>z</m:t>
                      </m:r>
                      <m:r>
                        <m:rPr>
                          <m:nor/>
                        </m:rPr>
                        <a:rPr lang="pl-PL" sz="1100"/>
                        <m:t> </m:t>
                      </m:r>
                      <m:r>
                        <m:rPr>
                          <m:nor/>
                        </m:rPr>
                        <a:rPr lang="pl-PL" sz="1100"/>
                        <m:t>dw</m:t>
                      </m:r>
                      <m:r>
                        <m:rPr>
                          <m:nor/>
                        </m:rPr>
                        <a:rPr lang="pl-PL" sz="1100"/>
                        <m:t>ó</m:t>
                      </m:r>
                      <m:r>
                        <m:rPr>
                          <m:nor/>
                        </m:rPr>
                        <a:rPr lang="pl-PL" sz="1100"/>
                        <m:t>ch</m:t>
                      </m:r>
                      <m:r>
                        <m:rPr>
                          <m:nor/>
                        </m:rPr>
                        <a:rPr lang="pl-PL" sz="1100"/>
                        <m:t> </m:t>
                      </m:r>
                      <m:r>
                        <m:rPr>
                          <m:nor/>
                        </m:rPr>
                        <a:rPr lang="pl-PL" sz="1100"/>
                        <m:t>cz</m:t>
                      </m:r>
                      <m:r>
                        <m:rPr>
                          <m:nor/>
                        </m:rPr>
                        <a:rPr lang="pl-PL" sz="1100"/>
                        <m:t>ł</m:t>
                      </m:r>
                      <m:r>
                        <m:rPr>
                          <m:nor/>
                        </m:rPr>
                        <a:rPr lang="pl-PL" sz="1100"/>
                        <m:t>on</m:t>
                      </m:r>
                      <m:r>
                        <m:rPr>
                          <m:nor/>
                        </m:rPr>
                        <a:rPr lang="pl-PL" sz="1100"/>
                        <m:t>ó</m:t>
                      </m:r>
                      <m:r>
                        <m:rPr>
                          <m:nor/>
                        </m:rPr>
                        <a:rPr lang="pl-PL" sz="1100"/>
                        <m:t>w</m:t>
                      </m:r>
                      <m:r>
                        <m:rPr>
                          <m:nor/>
                        </m:rPr>
                        <a:rPr lang="pl-PL" sz="1100"/>
                        <m:t>:</m:t>
                      </m:r>
                    </m:oMath>
                  </m:oMathPara>
                </a14:m>
                <a:endParaRPr lang="pl-PL" sz="11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ar-AE" sz="1100"/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1100"/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ar-AE" sz="1100"/>
                                    </m:ctrlPr>
                                  </m:sSubPr>
                                  <m:e>
                                    <m:r>
                                      <a:rPr lang="ar-AE" sz="1100" i="1"/>
                                      <m:t>𝑢</m:t>
                                    </m:r>
                                  </m:e>
                                  <m:sub>
                                    <m:r>
                                      <a:rPr lang="ar-AE" sz="1100"/>
                                      <m:t>1</m:t>
                                    </m:r>
                                  </m:sub>
                                </m:sSub>
                                <m:r>
                                  <a:rPr lang="ar-AE" sz="1100"/>
                                  <m:t>=−</m:t>
                                </m:r>
                                <m:sSub>
                                  <m:sSubPr>
                                    <m:ctrlPr>
                                      <a:rPr lang="ar-AE" sz="1100" i="1"/>
                                    </m:ctrlPr>
                                  </m:sSubPr>
                                  <m:e>
                                    <m:r>
                                      <a:rPr lang="ar-AE" sz="1100" i="1"/>
                                      <m:t>𝑘</m:t>
                                    </m:r>
                                  </m:e>
                                  <m:sub>
                                    <m:r>
                                      <a:rPr lang="ar-AE" sz="1100"/>
                                      <m:t>1</m:t>
                                    </m:r>
                                  </m:sub>
                                </m:sSub>
                                <m:rad>
                                  <m:radPr>
                                    <m:degHide m:val="on"/>
                                    <m:ctrlPr>
                                      <a:rPr lang="ar-AE" sz="1100" i="1"/>
                                    </m:ctrlPr>
                                  </m:radPr>
                                  <m:deg/>
                                  <m:e>
                                    <m:r>
                                      <a:rPr lang="ar-AE" sz="1100"/>
                                      <m:t>∣</m:t>
                                    </m:r>
                                    <m:r>
                                      <a:rPr lang="ar-AE" sz="1100" i="1"/>
                                      <m:t>𝑠</m:t>
                                    </m:r>
                                    <m:r>
                                      <a:rPr lang="ar-AE" sz="1100"/>
                                      <m:t>∣</m:t>
                                    </m:r>
                                  </m:e>
                                </m:rad>
                                <m:r>
                                  <m:rPr>
                                    <m:nor/>
                                  </m:rPr>
                                  <a:rPr lang="ar-AE" sz="1100" i="1"/>
                                  <m:t> </m:t>
                                </m:r>
                                <m:r>
                                  <m:rPr>
                                    <m:nor/>
                                  </m:rPr>
                                  <a:rPr lang="pl-PL" sz="1100" i="1"/>
                                  <m:t>sign</m:t>
                                </m:r>
                                <m:d>
                                  <m:dPr>
                                    <m:ctrlPr>
                                      <a:rPr lang="ar-AE" sz="1100" i="1"/>
                                    </m:ctrlPr>
                                  </m:dPr>
                                  <m:e>
                                    <m:r>
                                      <a:rPr lang="ar-AE" sz="1100" i="1"/>
                                      <m:t>𝑠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sz="1100" i="1"/>
                                    </m:ctrlPr>
                                  </m:sSubPr>
                                  <m:e>
                                    <m:r>
                                      <a:rPr lang="ar-AE" sz="1100" i="1"/>
                                      <m:t>𝑢</m:t>
                                    </m:r>
                                  </m:e>
                                  <m:sub>
                                    <m:r>
                                      <a:rPr lang="ar-AE" sz="1100"/>
                                      <m:t>2</m:t>
                                    </m:r>
                                  </m:sub>
                                </m:sSub>
                                <m:r>
                                  <a:rPr lang="ar-AE" sz="1100"/>
                                  <m:t>=−</m:t>
                                </m:r>
                                <m:sSub>
                                  <m:sSubPr>
                                    <m:ctrlPr>
                                      <a:rPr lang="ar-AE" sz="1100" i="1"/>
                                    </m:ctrlPr>
                                  </m:sSubPr>
                                  <m:e>
                                    <m:r>
                                      <a:rPr lang="ar-AE" sz="1100" i="1"/>
                                      <m:t>𝑘</m:t>
                                    </m:r>
                                  </m:e>
                                  <m:sub>
                                    <m:r>
                                      <a:rPr lang="ar-AE" sz="1100"/>
                                      <m:t>2</m:t>
                                    </m:r>
                                  </m:sub>
                                </m:sSub>
                                <m:nary>
                                  <m:naryPr>
                                    <m:grow m:val="on"/>
                                    <m:subHide m:val="on"/>
                                    <m:supHide m:val="on"/>
                                    <m:ctrlPr>
                                      <a:rPr lang="ar-AE" sz="1100" i="1"/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m:rPr>
                                        <m:nor/>
                                      </m:rPr>
                                      <a:rPr lang="pl-PL" sz="1100" i="1"/>
                                      <m:t>sign</m:t>
                                    </m:r>
                                  </m:e>
                                </m:nary>
                                <m:d>
                                  <m:dPr>
                                    <m:ctrlPr>
                                      <a:rPr lang="ar-AE" sz="1100" i="1"/>
                                    </m:ctrlPr>
                                  </m:dPr>
                                  <m:e>
                                    <m:r>
                                      <a:rPr lang="ar-AE" sz="1100" i="1"/>
                                      <m:t>𝑠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ar-AE" sz="1100" i="1"/>
                                  <m:t> </m:t>
                                </m:r>
                                <m:r>
                                  <a:rPr lang="ar-AE" sz="1100" i="1"/>
                                  <m:t>𝑑𝑡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110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l-PL" sz="1100"/>
                        <m:t>Ca</m:t>
                      </m:r>
                      <m:r>
                        <m:rPr>
                          <m:nor/>
                        </m:rPr>
                        <a:rPr lang="pl-PL" sz="1100"/>
                        <m:t>ł</m:t>
                      </m:r>
                      <m:r>
                        <m:rPr>
                          <m:nor/>
                        </m:rPr>
                        <a:rPr lang="pl-PL" sz="1100"/>
                        <m:t>kowite</m:t>
                      </m:r>
                      <m:r>
                        <m:rPr>
                          <m:nor/>
                        </m:rPr>
                        <a:rPr lang="pl-PL" sz="1100"/>
                        <m:t> </m:t>
                      </m:r>
                      <m:r>
                        <m:rPr>
                          <m:nor/>
                        </m:rPr>
                        <a:rPr lang="pl-PL" sz="1100"/>
                        <m:t>sterowanie</m:t>
                      </m:r>
                      <m:r>
                        <m:rPr>
                          <m:nor/>
                        </m:rPr>
                        <a:rPr lang="pl-PL" sz="1100"/>
                        <m:t> </m:t>
                      </m:r>
                      <m:r>
                        <m:rPr>
                          <m:nor/>
                        </m:rPr>
                        <a:rPr lang="pl-PL" sz="1100"/>
                        <m:t>ma</m:t>
                      </m:r>
                      <m:r>
                        <m:rPr>
                          <m:nor/>
                        </m:rPr>
                        <a:rPr lang="pl-PL" sz="1100"/>
                        <m:t> </m:t>
                      </m:r>
                      <m:r>
                        <m:rPr>
                          <m:nor/>
                        </m:rPr>
                        <a:rPr lang="pl-PL" sz="1100"/>
                        <m:t>posta</m:t>
                      </m:r>
                      <m:r>
                        <m:rPr>
                          <m:nor/>
                        </m:rPr>
                        <a:rPr lang="pl-PL" sz="1100"/>
                        <m:t>ć:</m:t>
                      </m:r>
                    </m:oMath>
                  </m:oMathPara>
                </a14:m>
                <a:endParaRPr lang="pl-PL" sz="11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1100" i="1"/>
                        <m:t>𝑢</m:t>
                      </m:r>
                      <m:r>
                        <a:rPr lang="pl-PL" sz="1100"/>
                        <m:t>=</m:t>
                      </m:r>
                      <m:sSub>
                        <m:sSubPr>
                          <m:ctrlPr>
                            <a:rPr lang="ar-AE" sz="1100" i="1"/>
                          </m:ctrlPr>
                        </m:sSubPr>
                        <m:e>
                          <m:r>
                            <a:rPr lang="ar-AE" sz="1100" i="1"/>
                            <m:t>𝑢</m:t>
                          </m:r>
                        </m:e>
                        <m:sub>
                          <m:r>
                            <a:rPr lang="ar-AE" sz="1100"/>
                            <m:t>1</m:t>
                          </m:r>
                        </m:sub>
                      </m:sSub>
                      <m:r>
                        <a:rPr lang="ar-AE" sz="1100"/>
                        <m:t>+</m:t>
                      </m:r>
                      <m:sSub>
                        <m:sSubPr>
                          <m:ctrlPr>
                            <a:rPr lang="ar-AE" sz="1100" i="1"/>
                          </m:ctrlPr>
                        </m:sSubPr>
                        <m:e>
                          <m:r>
                            <a:rPr lang="ar-AE" sz="1100" i="1"/>
                            <m:t>𝑢</m:t>
                          </m:r>
                        </m:e>
                        <m:sub>
                          <m:r>
                            <a:rPr lang="ar-AE" sz="1100"/>
                            <m:t>2</m:t>
                          </m:r>
                        </m:sub>
                      </m:sSub>
                    </m:oMath>
                  </m:oMathPara>
                </a14:m>
                <a:endParaRPr lang="ar-AE" sz="11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pl-PL" sz="1100"/>
                        <m:t>W</m:t>
                      </m:r>
                      <m:r>
                        <m:rPr>
                          <m:nor/>
                        </m:rPr>
                        <a:rPr lang="pl-PL" sz="1100"/>
                        <m:t> </m:t>
                      </m:r>
                      <m:r>
                        <m:rPr>
                          <m:nor/>
                        </m:rPr>
                        <a:rPr lang="pl-PL" sz="1100"/>
                        <m:t>wersji</m:t>
                      </m:r>
                      <m:r>
                        <m:rPr>
                          <m:nor/>
                        </m:rPr>
                        <a:rPr lang="pl-PL" sz="1100"/>
                        <m:t> </m:t>
                      </m:r>
                      <m:r>
                        <m:rPr>
                          <m:nor/>
                        </m:rPr>
                        <a:rPr lang="pl-PL" sz="1100"/>
                        <m:t>dyskretnej</m:t>
                      </m:r>
                      <m:r>
                        <m:rPr>
                          <m:nor/>
                        </m:rPr>
                        <a:rPr lang="pl-PL" sz="1100"/>
                        <m:t> (</m:t>
                      </m:r>
                      <m:r>
                        <m:rPr>
                          <m:nor/>
                        </m:rPr>
                        <a:rPr lang="pl-PL" sz="1100"/>
                        <m:t>stosowanej</m:t>
                      </m:r>
                      <m:r>
                        <m:rPr>
                          <m:nor/>
                        </m:rPr>
                        <a:rPr lang="pl-PL" sz="1100"/>
                        <m:t> </m:t>
                      </m:r>
                      <m:r>
                        <m:rPr>
                          <m:nor/>
                        </m:rPr>
                        <a:rPr lang="pl-PL" sz="1100"/>
                        <m:t>w</m:t>
                      </m:r>
                      <m:r>
                        <m:rPr>
                          <m:nor/>
                        </m:rPr>
                        <a:rPr lang="pl-PL" sz="1100"/>
                        <m:t> </m:t>
                      </m:r>
                      <m:r>
                        <m:rPr>
                          <m:nor/>
                        </m:rPr>
                        <a:rPr lang="pl-PL" sz="1100"/>
                        <m:t>implementacji</m:t>
                      </m:r>
                      <m:r>
                        <m:rPr>
                          <m:nor/>
                        </m:rPr>
                        <a:rPr lang="pl-PL" sz="1100"/>
                        <m:t> </m:t>
                      </m:r>
                      <m:r>
                        <m:rPr>
                          <m:nor/>
                        </m:rPr>
                        <a:rPr lang="pl-PL" sz="1100"/>
                        <m:t>cyfrowej</m:t>
                      </m:r>
                      <m:r>
                        <m:rPr>
                          <m:nor/>
                        </m:rPr>
                        <a:rPr lang="pl-PL" sz="1100"/>
                        <m:t>) </m:t>
                      </m:r>
                      <m:r>
                        <m:rPr>
                          <m:nor/>
                        </m:rPr>
                        <a:rPr lang="pl-PL" sz="1100"/>
                        <m:t>r</m:t>
                      </m:r>
                      <m:r>
                        <m:rPr>
                          <m:nor/>
                        </m:rPr>
                        <a:rPr lang="pl-PL" sz="1100"/>
                        <m:t>ó</m:t>
                      </m:r>
                      <m:r>
                        <m:rPr>
                          <m:nor/>
                        </m:rPr>
                        <a:rPr lang="pl-PL" sz="1100"/>
                        <m:t>wnania</m:t>
                      </m:r>
                      <m:r>
                        <m:rPr>
                          <m:nor/>
                        </m:rPr>
                        <a:rPr lang="pl-PL" sz="1100"/>
                        <m:t> </m:t>
                      </m:r>
                      <m:r>
                        <m:rPr>
                          <m:nor/>
                        </m:rPr>
                        <a:rPr lang="pl-PL" sz="1100"/>
                        <m:t>przyjmuj</m:t>
                      </m:r>
                      <m:r>
                        <m:rPr>
                          <m:nor/>
                        </m:rPr>
                        <a:rPr lang="pl-PL" sz="1100"/>
                        <m:t>ą </m:t>
                      </m:r>
                      <m:r>
                        <m:rPr>
                          <m:nor/>
                        </m:rPr>
                        <a:rPr lang="pl-PL" sz="1100"/>
                        <m:t>form</m:t>
                      </m:r>
                      <m:r>
                        <m:rPr>
                          <m:nor/>
                        </m:rPr>
                        <a:rPr lang="pl-PL" sz="1100"/>
                        <m:t>ę:</m:t>
                      </m:r>
                    </m:oMath>
                  </m:oMathPara>
                </a14:m>
                <a:endParaRPr lang="pl-PL" sz="11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100"/>
                          </m:ctrlPr>
                        </m:sSubPr>
                        <m:e>
                          <m:r>
                            <a:rPr lang="ar-AE" sz="1100" i="1"/>
                            <m:t>𝑣</m:t>
                          </m:r>
                        </m:e>
                        <m:sub>
                          <m:r>
                            <a:rPr lang="ar-AE" sz="1100" i="1"/>
                            <m:t>𝑘</m:t>
                          </m:r>
                          <m:r>
                            <a:rPr lang="ar-AE" sz="1100"/>
                            <m:t>+</m:t>
                          </m:r>
                          <m:r>
                            <a:rPr lang="ar-AE" sz="1100"/>
                            <m:t>1</m:t>
                          </m:r>
                        </m:sub>
                      </m:sSub>
                      <m:r>
                        <a:rPr lang="ar-AE" sz="1100"/>
                        <m:t>=</m:t>
                      </m:r>
                      <m:sSub>
                        <m:sSubPr>
                          <m:ctrlPr>
                            <a:rPr lang="ar-AE" sz="1100" i="1"/>
                          </m:ctrlPr>
                        </m:sSubPr>
                        <m:e>
                          <m:r>
                            <a:rPr lang="ar-AE" sz="1100" i="1"/>
                            <m:t>𝑣</m:t>
                          </m:r>
                        </m:e>
                        <m:sub>
                          <m:r>
                            <a:rPr lang="ar-AE" sz="1100" i="1"/>
                            <m:t>𝑘</m:t>
                          </m:r>
                        </m:sub>
                      </m:sSub>
                      <m:r>
                        <a:rPr lang="ar-AE" sz="1100"/>
                        <m:t>+</m:t>
                      </m:r>
                      <m:sSub>
                        <m:sSubPr>
                          <m:ctrlPr>
                            <a:rPr lang="ar-AE" sz="1100" i="1"/>
                          </m:ctrlPr>
                        </m:sSubPr>
                        <m:e>
                          <m:r>
                            <a:rPr lang="ar-AE" sz="1100" i="1"/>
                            <m:t>𝑇</m:t>
                          </m:r>
                        </m:e>
                        <m:sub>
                          <m:r>
                            <a:rPr lang="ar-AE" sz="1100" i="1"/>
                            <m:t>𝑠</m:t>
                          </m:r>
                        </m:sub>
                      </m:sSub>
                      <m:r>
                        <m:rPr>
                          <m:nor/>
                        </m:rPr>
                        <a:rPr lang="ar-AE" sz="1100" i="1"/>
                        <m:t> </m:t>
                      </m:r>
                      <m:r>
                        <m:rPr>
                          <m:nor/>
                        </m:rPr>
                        <a:rPr lang="pl-PL" sz="1100" i="1"/>
                        <m:t>sign</m:t>
                      </m:r>
                      <m:d>
                        <m:dPr>
                          <m:ctrlPr>
                            <a:rPr lang="ar-AE" sz="1100" i="1"/>
                          </m:ctrlPr>
                        </m:dPr>
                        <m:e>
                          <m:sSub>
                            <m:sSubPr>
                              <m:ctrlPr>
                                <a:rPr lang="ar-AE" sz="1100" i="1"/>
                              </m:ctrlPr>
                            </m:sSubPr>
                            <m:e>
                              <m:r>
                                <a:rPr lang="ar-AE" sz="1100" i="1"/>
                                <m:t>𝑠</m:t>
                              </m:r>
                            </m:e>
                            <m:sub>
                              <m:r>
                                <a:rPr lang="ar-AE" sz="1100" i="1"/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110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100"/>
                          </m:ctrlPr>
                        </m:sSubPr>
                        <m:e>
                          <m:r>
                            <a:rPr lang="ar-AE" sz="1100" i="1"/>
                            <m:t>𝑢</m:t>
                          </m:r>
                        </m:e>
                        <m:sub>
                          <m:r>
                            <a:rPr lang="ar-AE" sz="1100" i="1"/>
                            <m:t>𝑘</m:t>
                          </m:r>
                        </m:sub>
                      </m:sSub>
                      <m:r>
                        <a:rPr lang="ar-AE" sz="1100"/>
                        <m:t>=</m:t>
                      </m:r>
                      <m:sSub>
                        <m:sSubPr>
                          <m:ctrlPr>
                            <a:rPr lang="ar-AE" sz="1100" i="1"/>
                          </m:ctrlPr>
                        </m:sSubPr>
                        <m:e>
                          <m:r>
                            <a:rPr lang="ar-AE" sz="1100" i="1"/>
                            <m:t>𝑘</m:t>
                          </m:r>
                        </m:e>
                        <m:sub>
                          <m:r>
                            <a:rPr lang="ar-AE" sz="1100"/>
                            <m:t>1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ar-AE" sz="1100" i="1"/>
                          </m:ctrlPr>
                        </m:radPr>
                        <m:deg/>
                        <m:e>
                          <m:r>
                            <a:rPr lang="ar-AE" sz="1100"/>
                            <m:t>∣</m:t>
                          </m:r>
                          <m:sSub>
                            <m:sSubPr>
                              <m:ctrlPr>
                                <a:rPr lang="ar-AE" sz="1100" i="1"/>
                              </m:ctrlPr>
                            </m:sSubPr>
                            <m:e>
                              <m:r>
                                <a:rPr lang="ar-AE" sz="1100" i="1"/>
                                <m:t>𝑠</m:t>
                              </m:r>
                            </m:e>
                            <m:sub>
                              <m:r>
                                <a:rPr lang="ar-AE" sz="1100" i="1"/>
                                <m:t>𝑘</m:t>
                              </m:r>
                            </m:sub>
                          </m:sSub>
                          <m:r>
                            <a:rPr lang="ar-AE" sz="1100"/>
                            <m:t>∣</m:t>
                          </m:r>
                        </m:e>
                      </m:rad>
                      <m:r>
                        <m:rPr>
                          <m:nor/>
                        </m:rPr>
                        <a:rPr lang="ar-AE" sz="1100" i="1"/>
                        <m:t> </m:t>
                      </m:r>
                      <m:r>
                        <m:rPr>
                          <m:nor/>
                        </m:rPr>
                        <a:rPr lang="pl-PL" sz="1100" i="1"/>
                        <m:t>sign</m:t>
                      </m:r>
                      <m:d>
                        <m:dPr>
                          <m:ctrlPr>
                            <a:rPr lang="ar-AE" sz="1100" i="1"/>
                          </m:ctrlPr>
                        </m:dPr>
                        <m:e>
                          <m:sSub>
                            <m:sSubPr>
                              <m:ctrlPr>
                                <a:rPr lang="ar-AE" sz="1100" i="1"/>
                              </m:ctrlPr>
                            </m:sSubPr>
                            <m:e>
                              <m:r>
                                <a:rPr lang="ar-AE" sz="1100" i="1"/>
                                <m:t>𝑠</m:t>
                              </m:r>
                            </m:e>
                            <m:sub>
                              <m:r>
                                <a:rPr lang="ar-AE" sz="1100" i="1"/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ar-AE" sz="1100"/>
                        <m:t>+</m:t>
                      </m:r>
                      <m:sSub>
                        <m:sSubPr>
                          <m:ctrlPr>
                            <a:rPr lang="ar-AE" sz="1100" i="1"/>
                          </m:ctrlPr>
                        </m:sSubPr>
                        <m:e>
                          <m:r>
                            <a:rPr lang="ar-AE" sz="1100" i="1"/>
                            <m:t>𝑘</m:t>
                          </m:r>
                        </m:e>
                        <m:sub>
                          <m:r>
                            <a:rPr lang="ar-AE" sz="1100"/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ar-AE" sz="1100" i="1"/>
                          </m:ctrlPr>
                        </m:sSubPr>
                        <m:e>
                          <m:r>
                            <a:rPr lang="ar-AE" sz="1100" i="1"/>
                            <m:t>𝑣</m:t>
                          </m:r>
                        </m:e>
                        <m:sub>
                          <m:r>
                            <a:rPr lang="ar-AE" sz="1100" i="1"/>
                            <m:t>𝑘</m:t>
                          </m:r>
                          <m:r>
                            <a:rPr lang="ar-AE" sz="1100"/>
                            <m:t>+</m:t>
                          </m:r>
                          <m:r>
                            <a:rPr lang="ar-AE" sz="1100"/>
                            <m:t>1</m:t>
                          </m:r>
                        </m:sub>
                      </m:sSub>
                    </m:oMath>
                  </m:oMathPara>
                </a14:m>
                <a:endParaRPr lang="ar-AE" sz="1100" b="0" dirty="0"/>
              </a:p>
            </p:txBody>
          </p:sp>
        </mc:Choice>
        <mc:Fallback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CA0B7127-2903-6A79-AB6A-ED90AB69B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1916832"/>
                <a:ext cx="5832202" cy="17704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A7190E"/>
                </a:solidFill>
              </a:ln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9381418"/>
      </p:ext>
    </p:extLst>
  </p:cSld>
  <p:clrMapOvr>
    <a:masterClrMapping/>
  </p:clrMapOvr>
  <p:transition>
    <p:randomBa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387A9E4-9BCC-3C0A-362A-4E79D8302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Wyniki symulacji 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EC23916C-70C8-1FF4-7CFA-C11EEF0520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11188" y="2826346"/>
            <a:ext cx="3960812" cy="2970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3C89E778-1869-B229-CD11-C87F04DC9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2826346"/>
            <a:ext cx="3960812" cy="2970609"/>
          </a:xfrm>
          <a:prstGeom prst="rect">
            <a:avLst/>
          </a:prstGeom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5686B24B-F1D9-37CF-EE3C-5A63F16B4D9D}"/>
              </a:ext>
            </a:extLst>
          </p:cNvPr>
          <p:cNvSpPr txBox="1"/>
          <p:nvPr/>
        </p:nvSpPr>
        <p:spPr>
          <a:xfrm>
            <a:off x="1237061" y="5996929"/>
            <a:ext cx="2709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dirty="0"/>
              <a:t>Rys. 6 Wykres prędkości zadanej </a:t>
            </a:r>
            <a:br>
              <a:rPr lang="pl-PL" sz="1200" dirty="0"/>
            </a:br>
            <a:r>
              <a:rPr lang="pl-PL" sz="1200" dirty="0"/>
              <a:t>i rzeczywistej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7256FF79-4392-7E30-BCDD-2F90FA118D4B}"/>
              </a:ext>
            </a:extLst>
          </p:cNvPr>
          <p:cNvSpPr txBox="1"/>
          <p:nvPr/>
        </p:nvSpPr>
        <p:spPr>
          <a:xfrm>
            <a:off x="5557913" y="5981128"/>
            <a:ext cx="2709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200" dirty="0"/>
              <a:t>Rys. 7 Zbliżenie na wykres prędkości zadanej </a:t>
            </a:r>
            <a:br>
              <a:rPr lang="pl-PL" sz="1200" dirty="0"/>
            </a:br>
            <a:r>
              <a:rPr lang="pl-PL" sz="1200" dirty="0"/>
              <a:t>i rzeczywistej</a:t>
            </a:r>
          </a:p>
        </p:txBody>
      </p:sp>
    </p:spTree>
    <p:extLst>
      <p:ext uri="{BB962C8B-B14F-4D97-AF65-F5344CB8AC3E}">
        <p14:creationId xmlns:p14="http://schemas.microsoft.com/office/powerpoint/2010/main" val="1342322012"/>
      </p:ext>
    </p:extLst>
  </p:cSld>
  <p:clrMapOvr>
    <a:masterClrMapping/>
  </p:clrMapOvr>
  <p:transition>
    <p:randomBa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E2A5428-6E72-403D-B090-B66859520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Schemat stanowiska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6BBB6DB-8D50-1A1F-E76B-DA016E639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61299743"/>
      </p:ext>
    </p:extLst>
  </p:cSld>
  <p:clrMapOvr>
    <a:masterClrMapping/>
  </p:clrMapOvr>
  <p:transition>
    <p:randomBa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48F092-08F6-4D01-345E-34A32472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Implementacja fizyczna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7D3F6F28-2E7E-E042-25C6-B0F4C6B5B5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10"/>
          <a:stretch>
            <a:fillRect/>
          </a:stretch>
        </p:blipFill>
        <p:spPr>
          <a:xfrm>
            <a:off x="1619543" y="2060848"/>
            <a:ext cx="5904913" cy="3608951"/>
          </a:xfrm>
        </p:spPr>
      </p:pic>
    </p:spTree>
    <p:extLst>
      <p:ext uri="{BB962C8B-B14F-4D97-AF65-F5344CB8AC3E}">
        <p14:creationId xmlns:p14="http://schemas.microsoft.com/office/powerpoint/2010/main" val="3972951229"/>
      </p:ext>
    </p:extLst>
  </p:cSld>
  <p:clrMapOvr>
    <a:masterClrMapping/>
  </p:clrMapOvr>
  <p:transition>
    <p:randomBa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EC2C041-7542-F0D2-C56A-341789896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Programowanie STM32 F767</a:t>
            </a:r>
          </a:p>
        </p:txBody>
      </p:sp>
      <p:sp>
        <p:nvSpPr>
          <p:cNvPr id="11" name="Symbol zastępczy zawartości 10">
            <a:extLst>
              <a:ext uri="{FF2B5EF4-FFF2-40B4-BE49-F238E27FC236}">
                <a16:creationId xmlns:a16="http://schemas.microsoft.com/office/drawing/2014/main" id="{DC981784-C5F7-9EFE-284F-20DED11C6DE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pPr marL="0" indent="0" algn="ctr">
              <a:buNone/>
            </a:pPr>
            <a:r>
              <a:rPr lang="pl-PL" sz="1200" dirty="0"/>
              <a:t>Prędkość obrotowa</a:t>
            </a:r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B2ECE9E5-7963-AB54-0CAE-3B2D47F400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816"/>
          <a:stretch>
            <a:fillRect/>
          </a:stretch>
        </p:blipFill>
        <p:spPr>
          <a:xfrm>
            <a:off x="5114319" y="2350745"/>
            <a:ext cx="3706435" cy="2679987"/>
          </a:xfrm>
          <a:prstGeom prst="rect">
            <a:avLst/>
          </a:prstGeom>
        </p:spPr>
      </p:pic>
      <p:sp>
        <p:nvSpPr>
          <p:cNvPr id="12" name="Symbol zastępczy zawartości 11">
            <a:extLst>
              <a:ext uri="{FF2B5EF4-FFF2-40B4-BE49-F238E27FC236}">
                <a16:creationId xmlns:a16="http://schemas.microsoft.com/office/drawing/2014/main" id="{1AC8448D-42A4-3059-42F6-2CBE028CEB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pPr marL="0" indent="0" algn="ctr">
              <a:buNone/>
            </a:pPr>
            <a:r>
              <a:rPr lang="pl-PL" sz="1200" dirty="0"/>
              <a:t>Sygnał z </a:t>
            </a:r>
            <a:r>
              <a:rPr lang="pl-PL" sz="1200" dirty="0" err="1"/>
              <a:t>enkodera</a:t>
            </a:r>
            <a:endParaRPr lang="pl-PL" sz="1200" dirty="0"/>
          </a:p>
        </p:txBody>
      </p:sp>
      <p:pic>
        <p:nvPicPr>
          <p:cNvPr id="13" name="Symbol zastępczy zawartości 3">
            <a:extLst>
              <a:ext uri="{FF2B5EF4-FFF2-40B4-BE49-F238E27FC236}">
                <a16:creationId xmlns:a16="http://schemas.microsoft.com/office/drawing/2014/main" id="{DA0B1BDD-4AC0-A2AE-A43C-F6866771C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46454" y="2363220"/>
            <a:ext cx="3664903" cy="26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6796500"/>
      </p:ext>
    </p:extLst>
  </p:cSld>
  <p:clrMapOvr>
    <a:masterClrMapping/>
  </p:clrMapOvr>
  <p:transition>
    <p:randomBa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81DD0E5-418A-EDC5-FF29-44655B137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Testy algorytmów sterowania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8AAEA7B-8EA5-B8F0-71E7-EE88943EBB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4B835DF-A443-020E-89EB-29E31043B3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36506077"/>
      </p:ext>
    </p:extLst>
  </p:cSld>
  <p:clrMapOvr>
    <a:masterClrMapping/>
  </p:clrMapOvr>
  <p:transition>
    <p:randomBa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CAB8C55-FAAF-15B3-B7BC-5353AD6D2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Wnioski 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94C269A-0945-4DB8-9591-9EE12CE204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l-PL" dirty="0"/>
              <a:t>Wyszło, to fajne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97802465-F462-4775-2786-CCABD45BD48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2104206"/>
      </p:ext>
    </p:extLst>
  </p:cSld>
  <p:clrMapOvr>
    <a:masterClrMapping/>
  </p:clrMapOvr>
  <p:transition>
    <p:randomBa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7FDA0DD-C14E-AB44-3B13-6128DF7A7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Dalszy rozwój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44E3E0F-1C85-06DE-E7DA-E857CECE7D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A555478E-5533-B2EC-AD17-3ECCFCE3AAA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12308115"/>
      </p:ext>
    </p:extLst>
  </p:cSld>
  <p:clrMapOvr>
    <a:masterClrMapping/>
  </p:clrMapOvr>
  <p:transition>
    <p:randomBar/>
  </p:transition>
</p:sld>
</file>

<file path=ppt/theme/theme1.xml><?xml version="1.0" encoding="utf-8"?>
<a:theme xmlns:a="http://schemas.openxmlformats.org/drawingml/2006/main" name="1_Projekt domyślny">
  <a:themeElements>
    <a:clrScheme name="1_Projekt domyślny 1">
      <a:dk1>
        <a:srgbClr val="000000"/>
      </a:dk1>
      <a:lt1>
        <a:srgbClr val="FFFFFF"/>
      </a:lt1>
      <a:dk2>
        <a:srgbClr val="FFEBD5"/>
      </a:dk2>
      <a:lt2>
        <a:srgbClr val="78120A"/>
      </a:lt2>
      <a:accent1>
        <a:srgbClr val="E32213"/>
      </a:accent1>
      <a:accent2>
        <a:srgbClr val="FFD3A1"/>
      </a:accent2>
      <a:accent3>
        <a:srgbClr val="FFFFFF"/>
      </a:accent3>
      <a:accent4>
        <a:srgbClr val="000000"/>
      </a:accent4>
      <a:accent5>
        <a:srgbClr val="EFABAA"/>
      </a:accent5>
      <a:accent6>
        <a:srgbClr val="E7BF91"/>
      </a:accent6>
      <a:hlink>
        <a:srgbClr val="FFD9AF"/>
      </a:hlink>
      <a:folHlink>
        <a:srgbClr val="FFB25D"/>
      </a:folHlink>
    </a:clrScheme>
    <a:fontScheme name="1_Projekt domyślny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1_Projekt domyślny 1">
        <a:dk1>
          <a:srgbClr val="000000"/>
        </a:dk1>
        <a:lt1>
          <a:srgbClr val="FFFFFF"/>
        </a:lt1>
        <a:dk2>
          <a:srgbClr val="FFEBD5"/>
        </a:dk2>
        <a:lt2>
          <a:srgbClr val="78120A"/>
        </a:lt2>
        <a:accent1>
          <a:srgbClr val="E32213"/>
        </a:accent1>
        <a:accent2>
          <a:srgbClr val="FFD3A1"/>
        </a:accent2>
        <a:accent3>
          <a:srgbClr val="FFFFFF"/>
        </a:accent3>
        <a:accent4>
          <a:srgbClr val="000000"/>
        </a:accent4>
        <a:accent5>
          <a:srgbClr val="EFABAA"/>
        </a:accent5>
        <a:accent6>
          <a:srgbClr val="E7BF91"/>
        </a:accent6>
        <a:hlink>
          <a:srgbClr val="FFD9AF"/>
        </a:hlink>
        <a:folHlink>
          <a:srgbClr val="FFB25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prezentacja-pl</Template>
  <TotalTime>175</TotalTime>
  <Words>474</Words>
  <Application>Microsoft Office PowerPoint</Application>
  <PresentationFormat>Pokaz na ekranie (4:3)</PresentationFormat>
  <Paragraphs>66</Paragraphs>
  <Slides>15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15</vt:i4>
      </vt:variant>
    </vt:vector>
  </HeadingPairs>
  <TitlesOfParts>
    <vt:vector size="20" baseType="lpstr">
      <vt:lpstr>Arial</vt:lpstr>
      <vt:lpstr>Calibri</vt:lpstr>
      <vt:lpstr>Roboto</vt:lpstr>
      <vt:lpstr>Trebuchet MS</vt:lpstr>
      <vt:lpstr>1_Projekt domyślny</vt:lpstr>
      <vt:lpstr>Ślizgowy regulator prędkości silnika prądu stałego</vt:lpstr>
      <vt:lpstr>Cel pracy i zakres pracy</vt:lpstr>
      <vt:lpstr>Sliding Mode Control</vt:lpstr>
      <vt:lpstr>Fazy projektowania SMC</vt:lpstr>
      <vt:lpstr>Podstawowe SMC</vt:lpstr>
      <vt:lpstr>Wyniki symulacji </vt:lpstr>
      <vt:lpstr>Super Twisting -SMC</vt:lpstr>
      <vt:lpstr>ST-SMC</vt:lpstr>
      <vt:lpstr>Wyniki symulacji </vt:lpstr>
      <vt:lpstr>Schemat stanowiska</vt:lpstr>
      <vt:lpstr>Implementacja fizyczna</vt:lpstr>
      <vt:lpstr>Programowanie STM32 F767</vt:lpstr>
      <vt:lpstr>Testy algorytmów sterowania</vt:lpstr>
      <vt:lpstr>Wnioski </vt:lpstr>
      <vt:lpstr>Dalszy rozwój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Ślizgowy regulator prędkości silnika prądu stałego</dc:title>
  <dc:creator>Karol Franczak (273573)</dc:creator>
  <cp:lastModifiedBy>Bartosz Orchowski</cp:lastModifiedBy>
  <cp:revision>24</cp:revision>
  <dcterms:created xsi:type="dcterms:W3CDTF">2025-10-09T19:27:14Z</dcterms:created>
  <dcterms:modified xsi:type="dcterms:W3CDTF">2025-11-13T09:34:46Z</dcterms:modified>
</cp:coreProperties>
</file>